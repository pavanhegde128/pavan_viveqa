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exend Light"/>
      <p:regular r:id="rId18"/>
      <p:bold r:id="rId19"/>
    </p:embeddedFont>
    <p:embeddedFont>
      <p:font typeface="Lexen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haTt1QF/UIhRmREIUeYxLyiI2n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A394E6-187E-48AF-9771-A74678878E64}">
  <a:tblStyle styleId="{8FA394E6-187E-48AF-9771-A74678878E6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customschemas.google.com/relationships/presentationmetadata" Target="metadata"/><Relationship Id="rId21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3" name="Google Shape;18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37ce80be39f_0_18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1" name="Google Shape;1871;g37ce80be39f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3ab3a77d0c3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1" name="Google Shape;1881;g3ab3a77d0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37ce80be39f_0_18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1" name="Google Shape;1891;g37ce80be39f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3b2514365be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0" name="Google Shape;1900;g3b2514365b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b43f5cc3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0" name="Google Shape;1910;g3b43f5cc3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3b2514365be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9" name="Google Shape;1919;g3b2514365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3b2514365be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9" name="Google Shape;1929;g3b2514365b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3b43f5cc3a9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8" name="Google Shape;1938;g3b43f5cc3a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3eec4d095a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3eec4d095a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3b43f5cc3a9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7" name="Google Shape;1957;g3b43f5cc3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8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88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8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88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88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8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8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8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8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8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8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8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8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8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8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8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8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8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8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8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8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8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8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8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8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8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8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8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8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8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8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8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89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89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89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89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9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9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9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9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9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9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9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9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9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9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9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9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9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9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9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9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9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9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9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9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9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9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9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9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9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9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9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9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9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9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9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9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9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9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9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9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9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9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9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9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9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9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9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9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9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9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9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9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9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9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9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9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9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9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9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9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9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9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9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9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90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90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90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90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9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9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9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9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9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9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9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9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9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9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9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9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9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9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9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9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9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9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9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9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9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9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9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9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9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9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9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9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9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9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9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9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9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9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9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9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9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9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9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9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9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9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9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9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9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9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9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9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9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9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9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91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91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91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91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91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91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9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9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9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9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9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9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9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9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9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9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9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9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9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9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9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9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p9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9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92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92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92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9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9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9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9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9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9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9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9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9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9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9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9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9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9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9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9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9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93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9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9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9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9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9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9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9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9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9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9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9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9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9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9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9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9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9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9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9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9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p94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9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94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i="0" sz="8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9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9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9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9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9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9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9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9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9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9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9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9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9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9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9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9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9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9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9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9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9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9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9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9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9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9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9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9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9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9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9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9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9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9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9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9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9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9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9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9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9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9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9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9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9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9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9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9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9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9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9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" name="Google Shape;485;p9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9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95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5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9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9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9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9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9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9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9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9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9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9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9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9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9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9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9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9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9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9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9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9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9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9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9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9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9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9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9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9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9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9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9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9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9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9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9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9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9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9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9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9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9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9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9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9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9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9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9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9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9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9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9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9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9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9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9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9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9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9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1" name="Google Shape;551;p9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96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9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9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9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9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9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9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9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9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9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9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9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9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9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9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9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9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9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9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9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9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9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9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9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9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9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9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9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9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9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9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9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9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9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9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9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9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9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9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9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9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9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9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9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9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9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9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9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9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9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9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9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9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9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9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9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9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9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9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9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9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9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9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9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97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97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9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9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9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9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9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9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9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9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9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9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9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9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9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9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9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9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9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9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9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9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9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9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9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9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9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9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9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9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9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9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9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9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9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9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9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9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9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9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9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9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9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9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9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9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9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9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9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9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9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9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9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9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9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9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9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9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9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9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9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9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p9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9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98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98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98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9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9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9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9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9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9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9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9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9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9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9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9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9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9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9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9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9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9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9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9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9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9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9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9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9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9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9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9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9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9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9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9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9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9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9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9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9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9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9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9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9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9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9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9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9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9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9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9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9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9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9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9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9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9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9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9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9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9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9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9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9" name="Google Shape;749;p9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9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99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9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0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0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0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0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0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0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0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0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0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0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0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0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0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0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0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0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0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0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0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0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0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0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0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0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0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0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0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0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0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0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0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0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0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0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0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0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0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0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0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0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0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0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0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0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0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0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0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0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0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0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0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0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0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0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0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0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0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0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0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0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4" name="Google Shape;814;p10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0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00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00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00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0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0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0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0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0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0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0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0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0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0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0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0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10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0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0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0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0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0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0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0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0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0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0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0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0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0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0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0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0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0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0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0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0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0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0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0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0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0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0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0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0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0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0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0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0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0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0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0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0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0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0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0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0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0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0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0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0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1" name="Google Shape;881;p10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0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01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0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0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0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0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0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0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0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0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0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0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0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0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0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0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0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0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0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0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0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0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0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0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0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0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0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0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0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0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0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0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0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0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0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0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0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0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0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0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0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0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0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0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0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0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0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0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0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0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0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0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0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0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0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0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0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0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0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0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0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0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0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0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0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0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0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6" name="Google Shape;956;p10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0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0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04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0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0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0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0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0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0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0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0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0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0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0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0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0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0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0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0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0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0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0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0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0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0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0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0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0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0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0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0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0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0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0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0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0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0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0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0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0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0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0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0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0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0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0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0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0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0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0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0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0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0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0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0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0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0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2" name="Google Shape;1022;p10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0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05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0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10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10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0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0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0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0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0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0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0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0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0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0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0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0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0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0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0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0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0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0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0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0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0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0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0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0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0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0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0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0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0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0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0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0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0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0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0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0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0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0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0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0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0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0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0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0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0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0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0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0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0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0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0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0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0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0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7" name="Google Shape;1087;p10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0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06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106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10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10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10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0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0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0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0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0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0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0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0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0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0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0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0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0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0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0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0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0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0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0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0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0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0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0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0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0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0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0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0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0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0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0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0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0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0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0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0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0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0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0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0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0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0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0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0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0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0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0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0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0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0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0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0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0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0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0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0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3" name="Google Shape;1153;p10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0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0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0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10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10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0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2" name="Google Shape;1162;p10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10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0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0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0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0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0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0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0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0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0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0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0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0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0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0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0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0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0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0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0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0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0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0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0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0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0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0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0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0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0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0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0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0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0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0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0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0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0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0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0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0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0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0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0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0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0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0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0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0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0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0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0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0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2" name="Google Shape;1222;p10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0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9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109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109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109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109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109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10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3" name="Google Shape;1233;p1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1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3" name="Google Shape;1293;p1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1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110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110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1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0" name="Google Shape;1300;p1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1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0" name="Google Shape;1360;p1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11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11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111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111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111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9" name="Google Shape;1369;p1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1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9" name="Google Shape;1429;p1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112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112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112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112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112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112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112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1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0" name="Google Shape;1440;p1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1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0" name="Google Shape;1500;p1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11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113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113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113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113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113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113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113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113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1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3" name="Google Shape;1513;p1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1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3" name="Google Shape;1573;p1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11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114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1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9" name="Google Shape;1579;p1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1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9" name="Google Shape;1639;p1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11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115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115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115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115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115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115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1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1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0" name="Google Shape;1650;p1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11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1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1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1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1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1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1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1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1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1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1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1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1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1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1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1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1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1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1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1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1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1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1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1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1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1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1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1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1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1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1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1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1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1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1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1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1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1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1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1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1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1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1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1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1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1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1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1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1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1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1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1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1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1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1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1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1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1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1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0" name="Google Shape;1710;p1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11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116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116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116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116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116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116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116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116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116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1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1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4" name="Google Shape;1724;p11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11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1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1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1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1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1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1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1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1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1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1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1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1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1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1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1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1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1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1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1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1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1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1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1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1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1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1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1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1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1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1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1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1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1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1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1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1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1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1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1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1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1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1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1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1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1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1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1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1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1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1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1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1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1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1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1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1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1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1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4" name="Google Shape;1784;p1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117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1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9" name="Google Shape;1789;p1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1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9" name="Google Shape;1849;p1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118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118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118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118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118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118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118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118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118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118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1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7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b="0" i="0" sz="4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b="0"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87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b="0" i="0" sz="8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5" name="Google Shape;1865;p1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6" name="Google Shape;1866;p1"/>
          <p:cNvSpPr txBox="1"/>
          <p:nvPr/>
        </p:nvSpPr>
        <p:spPr>
          <a:xfrm>
            <a:off x="914400" y="1607850"/>
            <a:ext cx="76053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Memory on FPGA 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7" name="Google Shape;1867;p1"/>
          <p:cNvPicPr preferRelativeResize="0"/>
          <p:nvPr/>
        </p:nvPicPr>
        <p:blipFill rotWithShape="1">
          <a:blip r:embed="rId3">
            <a:alphaModFix/>
          </a:blip>
          <a:srcRect b="41102" l="17991" r="31426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" name="Google Shape;1873;g37ce80be39f_0_1870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382850"/>
                <a:gridCol w="53155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4" name="Google Shape;1874;g37ce80be39f_0_1870"/>
          <p:cNvSpPr txBox="1"/>
          <p:nvPr/>
        </p:nvSpPr>
        <p:spPr>
          <a:xfrm>
            <a:off x="213200" y="716050"/>
            <a:ext cx="7213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8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Block RAM (BRAM)</a:t>
            </a:r>
            <a:endParaRPr b="1" i="0" sz="38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5" name="Google Shape;1875;g37ce80be39f_0_1870"/>
          <p:cNvSpPr txBox="1"/>
          <p:nvPr/>
        </p:nvSpPr>
        <p:spPr>
          <a:xfrm>
            <a:off x="380550" y="1436850"/>
            <a:ext cx="7771200" cy="25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RAM (BRAM) = Embedded memory inside an FPGA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called Embedded Block RAM (EBR)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resource, only a limited number per FPGA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 of BRAM depends on: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family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size &amp; cost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store large amounts of on-chip data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6" name="Google Shape;1876;g37ce80be39f_0_1870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877" name="Google Shape;1877;g37ce80be39f_0_1870"/>
          <p:cNvPicPr preferRelativeResize="0"/>
          <p:nvPr/>
        </p:nvPicPr>
        <p:blipFill rotWithShape="1">
          <a:blip r:embed="rId3">
            <a:alphaModFix/>
          </a:blip>
          <a:srcRect b="41102" l="17991" r="31426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8" name="Google Shape;1878;g37ce80be39f_0_1870" title="block-ram-width-depth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0850" y="1460050"/>
            <a:ext cx="182880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3" name="Google Shape;1883;g3ab3a77d0c3_0_6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382850"/>
                <a:gridCol w="53155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4" name="Google Shape;1884;g3ab3a77d0c3_0_6"/>
          <p:cNvSpPr txBox="1"/>
          <p:nvPr/>
        </p:nvSpPr>
        <p:spPr>
          <a:xfrm>
            <a:off x="213200" y="716050"/>
            <a:ext cx="7213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8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Characteristics &amp; Usage</a:t>
            </a:r>
            <a:endParaRPr b="1" i="0" sz="38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5" name="Google Shape;1885;g3ab3a77d0c3_0_6"/>
          <p:cNvSpPr txBox="1"/>
          <p:nvPr/>
        </p:nvSpPr>
        <p:spPr>
          <a:xfrm>
            <a:off x="380550" y="1436850"/>
            <a:ext cx="7771200" cy="2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has fixed block sizes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sizes: 4 / 8 / 16 / 32 kb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Configurable width &amp; depth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Clocked memory (synchronous operation)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initialized at programming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useful for many FPGA applications: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Lookup tables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6" name="Google Shape;1886;g3ab3a77d0c3_0_6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887" name="Google Shape;1887;g3ab3a77d0c3_0_6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" name="Google Shape;1888;g3ab3a77d0c3_0_6" title="block-ram-width-depth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0850" y="1460050"/>
            <a:ext cx="182880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3" name="Google Shape;1893;g37ce80be39f_0_1886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4" name="Google Shape;1894;g37ce80be39f_0_1886"/>
          <p:cNvSpPr txBox="1"/>
          <p:nvPr/>
        </p:nvSpPr>
        <p:spPr>
          <a:xfrm>
            <a:off x="458350" y="1367501"/>
            <a:ext cx="82284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Single-Port RAM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Dual-Port RAM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(built on BRAM)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g37ce80be39f_0_1886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6" name="Google Shape;1896;g37ce80be39f_0_1886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897" name="Google Shape;1897;g37ce80be39f_0_1886"/>
          <p:cNvPicPr preferRelativeResize="0"/>
          <p:nvPr/>
        </p:nvPicPr>
        <p:blipFill rotWithShape="1">
          <a:blip r:embed="rId3">
            <a:alphaModFix/>
          </a:blip>
          <a:srcRect b="41102" l="17991" r="31426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2" name="Google Shape;1902;g3b2514365be_0_2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3" name="Google Shape;1903;g3b2514365be_0_2"/>
          <p:cNvSpPr txBox="1"/>
          <p:nvPr/>
        </p:nvSpPr>
        <p:spPr>
          <a:xfrm>
            <a:off x="458350" y="1367500"/>
            <a:ext cx="38643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Single-Port BRAM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Single-Port BRAM?                                    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memory port (Port A)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read OR write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clock cycle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Simplest BRAM configuration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least FPGA resources</a:t>
            </a:r>
            <a:b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4" name="Google Shape;1904;g3b2514365be_0_2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5" name="Google Shape;1905;g3b2514365be_0_2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06" name="Google Shape;1906;g3b2514365be_0_2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g3b2514365be_0_2" title="image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5534" y="1724096"/>
            <a:ext cx="4241266" cy="2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2" name="Google Shape;1912;g3b43f5cc3a9_0_0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3" name="Google Shape;1913;g3b43f5cc3a9_0_0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4" name="Google Shape;1914;g3b43f5cc3a9_0_0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15" name="Google Shape;1915;g3b43f5cc3a9_0_0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g3b43f5cc3a9_0_0"/>
          <p:cNvSpPr txBox="1"/>
          <p:nvPr/>
        </p:nvSpPr>
        <p:spPr>
          <a:xfrm>
            <a:off x="486725" y="1486050"/>
            <a:ext cx="4405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Single-Port BRAM – Operation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clock-based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occurs on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clock edge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 En = 0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Read operation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 En = 1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Write operation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address accessed per cycle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read and write at the same time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1" name="Google Shape;1921;g3b2514365be_0_13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2" name="Google Shape;1922;g3b2514365be_0_13"/>
          <p:cNvSpPr txBox="1"/>
          <p:nvPr/>
        </p:nvSpPr>
        <p:spPr>
          <a:xfrm>
            <a:off x="458350" y="1367500"/>
            <a:ext cx="38643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Dual-Port BRAM (DPRAM)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Dual-Port BRAM?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independent ports: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A &amp; Port B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port can: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Ports operate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simultaneously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Much more flexible than single-port BRAM</a:t>
            </a:r>
            <a:b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3" name="Google Shape;1923;g3b2514365be_0_13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4" name="Google Shape;1924;g3b2514365be_0_13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25" name="Google Shape;1925;g3b2514365be_0_13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g3b2514365be_0_13" title="image-removebg-preview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500" y="1620650"/>
            <a:ext cx="4407825" cy="281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1" name="Google Shape;1931;g3b2514365be_0_24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2" name="Google Shape;1932;g3b2514365be_0_24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3" name="Google Shape;1933;g3b2514365be_0_24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34" name="Google Shape;1934;g3b2514365be_0_24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g3b2514365be_0_24"/>
          <p:cNvSpPr txBox="1"/>
          <p:nvPr/>
        </p:nvSpPr>
        <p:spPr>
          <a:xfrm>
            <a:off x="507550" y="1478250"/>
            <a:ext cx="44058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Dual-Port BRAM – Operation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ports are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clocked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A and Port B can access: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addresses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clock cycle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A reads Address 0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B writes Address 200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in the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cycle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0" name="Google Shape;1940;g3b43f5cc3a9_0_23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1" name="Google Shape;1941;g3b43f5cc3a9_0_23"/>
          <p:cNvSpPr txBox="1"/>
          <p:nvPr/>
        </p:nvSpPr>
        <p:spPr>
          <a:xfrm>
            <a:off x="458350" y="1367500"/>
            <a:ext cx="40056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FIFO using BRAM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FIFO?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=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In First Out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read in the same order it is written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internally using 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Dual-Port BRAM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Extremely common in FPGA designs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g3b43f5cc3a9_0_23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3" name="Google Shape;1943;g3b43f5cc3a9_0_23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44" name="Google Shape;1944;g3b43f5cc3a9_0_23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g3b43f5cc3a9_0_23" title="image-removebg-preview (2).png"/>
          <p:cNvPicPr preferRelativeResize="0"/>
          <p:nvPr/>
        </p:nvPicPr>
        <p:blipFill rotWithShape="1">
          <a:blip r:embed="rId4">
            <a:alphaModFix/>
          </a:blip>
          <a:srcRect b="0" l="969" r="4921" t="0"/>
          <a:stretch/>
        </p:blipFill>
        <p:spPr>
          <a:xfrm>
            <a:off x="4543150" y="1726700"/>
            <a:ext cx="4486550" cy="24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eec4d095a0_1_0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g3eec4d095a0_1_0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g3eec4d095a0_1_0"/>
          <p:cNvSpPr txBox="1"/>
          <p:nvPr>
            <p:ph type="title"/>
          </p:nvPr>
        </p:nvSpPr>
        <p:spPr>
          <a:xfrm>
            <a:off x="208725" y="344175"/>
            <a:ext cx="53409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g3eec4d095a0_1_0"/>
          <p:cNvSpPr txBox="1"/>
          <p:nvPr>
            <p:ph idx="3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g3eec4d095a0_1_0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9" name="Google Shape;1959;g3b43f5cc3a9_0_11"/>
          <p:cNvGraphicFramePr/>
          <p:nvPr/>
        </p:nvGraphicFramePr>
        <p:xfrm>
          <a:off x="0" y="26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{8FA394E6-187E-48AF-9771-A74678878E64}</a:tableStyleId>
              </a:tblPr>
              <a:tblGrid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  <a:gridCol w="457200"/>
              </a:tblGrid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0" name="Google Shape;1960;g3b43f5cc3a9_0_11"/>
          <p:cNvSpPr txBox="1"/>
          <p:nvPr/>
        </p:nvSpPr>
        <p:spPr>
          <a:xfrm>
            <a:off x="458350" y="1367500"/>
            <a:ext cx="51450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BRAM – Why It’s Needed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 data between two interfaces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speed mismatch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Temporary data storage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 data transfer between blocks</a:t>
            </a:r>
            <a:b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1" name="Google Shape;1961;g3b43f5cc3a9_0_11"/>
          <p:cNvSpPr txBox="1"/>
          <p:nvPr/>
        </p:nvSpPr>
        <p:spPr>
          <a:xfrm>
            <a:off x="457200" y="639300"/>
            <a:ext cx="8282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003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 Types</a:t>
            </a:r>
            <a:endParaRPr b="1" i="0" sz="4000" u="none" cap="none" strike="noStrike">
              <a:solidFill>
                <a:srgbClr val="003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2" name="Google Shape;1962;g3b43f5cc3a9_0_11"/>
          <p:cNvSpPr/>
          <p:nvPr/>
        </p:nvSpPr>
        <p:spPr>
          <a:xfrm>
            <a:off x="3395095" y="4749595"/>
            <a:ext cx="2353800" cy="279600"/>
          </a:xfrm>
          <a:prstGeom prst="roundRect">
            <a:avLst>
              <a:gd fmla="val 50000" name="adj"/>
            </a:avLst>
          </a:prstGeom>
          <a:solidFill>
            <a:srgbClr val="0B5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www.anmaya.in</a:t>
            </a:r>
            <a:endParaRPr b="0" i="0" sz="1200" u="none" cap="none" strike="noStrike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963" name="Google Shape;1963;g3b43f5cc3a9_0_11"/>
          <p:cNvPicPr preferRelativeResize="0"/>
          <p:nvPr/>
        </p:nvPicPr>
        <p:blipFill rotWithShape="1">
          <a:blip r:embed="rId3">
            <a:alphaModFix/>
          </a:blip>
          <a:srcRect b="41101" l="17992" r="31422" t="44231"/>
          <a:stretch/>
        </p:blipFill>
        <p:spPr>
          <a:xfrm>
            <a:off x="0" y="261525"/>
            <a:ext cx="1503825" cy="4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